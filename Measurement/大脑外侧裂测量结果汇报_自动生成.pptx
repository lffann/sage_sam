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804672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Microsoft YaHei"/>
              </a:rPr>
              <a:t>大脑外侧裂测量结果汇报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1298448"/>
            <a:ext cx="786384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依据《大脑外侧裂测量示意图》自动汇总 7 项测量指标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783080"/>
            <a:ext cx="5120640" cy="12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182880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368296"/>
            <a:ext cx="157276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Microsoft YaHei"/>
              </a:rPr>
              <a:t>249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679192"/>
            <a:ext cx="157276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总病例数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2240280"/>
            <a:ext cx="182880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16936" y="2368296"/>
            <a:ext cx="157276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891B2"/>
                </a:solidFill>
                <a:latin typeface="Microsoft YaHei"/>
              </a:rPr>
              <a:t>239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6936" y="2679192"/>
            <a:ext cx="157276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外侧裂可测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2240280"/>
            <a:ext cx="182880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74336" y="2368296"/>
            <a:ext cx="157276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6A34A"/>
                </a:solidFill>
                <a:latin typeface="Microsoft YaHei"/>
              </a:rPr>
              <a:t>186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74336" y="2679192"/>
            <a:ext cx="157276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角度双侧可测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2240280"/>
            <a:ext cx="182880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31736" y="2368296"/>
            <a:ext cx="157276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D97706"/>
                </a:solidFill>
                <a:latin typeface="Microsoft YaHei"/>
              </a:rPr>
              <a:t>249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2679192"/>
            <a:ext cx="157276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纵裂可测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246120"/>
            <a:ext cx="8046720" cy="2651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618" y="3456432"/>
            <a:ext cx="7612803" cy="224028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144000" y="658368"/>
            <a:ext cx="2423160" cy="5230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914400"/>
            <a:ext cx="192024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Microsoft YaHei"/>
              </a:rPr>
              <a:t>页序继承示意图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1325880"/>
            <a:ext cx="1920240" cy="3931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01 封面
02 形态总览
03 外侧裂最大深度
04 外侧裂开口宽度
05 裂隙弯曲度
06 角度
07 纵裂分支最大深度
08 纵裂全长
09 纵裂面积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19088"/>
            <a:ext cx="1115568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510528"/>
            <a:ext cx="88696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Microsoft YaHei"/>
              </a:rPr>
              <a:t>数据：measurement_results.csv；定义来源：大脑外侧裂测量示意图.pptx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Microsoft YaHe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77240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Microsoft YaHei"/>
              </a:rPr>
              <a:t>外侧裂及大脑纵裂形态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80467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同一代表病例展示原图、外侧裂测量叠加、纵裂全长与纵裂面积。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12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2423160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117106"/>
            <a:ext cx="2203704" cy="15356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8" y="4178808"/>
            <a:ext cx="2203704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E293B"/>
                </a:solidFill>
                <a:latin typeface="Microsoft YaHei"/>
              </a:rPr>
              <a:t>原始图像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508760"/>
            <a:ext cx="2423160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7" y="2117106"/>
            <a:ext cx="2203704" cy="15356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75887" y="4178808"/>
            <a:ext cx="2203704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E293B"/>
                </a:solidFill>
                <a:latin typeface="Microsoft YaHei"/>
              </a:rPr>
              <a:t>外侧裂开口宽度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508760"/>
            <a:ext cx="2423160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2117106"/>
            <a:ext cx="2203704" cy="15356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56248" y="4178808"/>
            <a:ext cx="2203704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E293B"/>
                </a:solidFill>
                <a:latin typeface="Microsoft YaHei"/>
              </a:rPr>
              <a:t>纵裂全长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1508760"/>
            <a:ext cx="2423160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607" y="2117106"/>
            <a:ext cx="2203704" cy="15356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436607" y="4178808"/>
            <a:ext cx="2203704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E293B"/>
                </a:solidFill>
                <a:latin typeface="Microsoft YaHei"/>
              </a:rPr>
              <a:t>纵裂面积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892040"/>
            <a:ext cx="1092708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102352"/>
            <a:ext cx="1042416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YaHei"/>
              </a:rPr>
              <a:t>自动测量结果按 7 个指标分别保存原图叠加与掩膜叠加图；本汇报优先展示原图叠加图，便于导师核对测量线、角度、面积区域与临床图像背景的对应关系。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19088"/>
            <a:ext cx="1115568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510528"/>
            <a:ext cx="88696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Microsoft YaHei"/>
              </a:rPr>
              <a:t>数据：measurement_results.csv；定义来源：大脑外侧裂测量示意图.pptx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Microsoft YaHei"/>
              </a:rPr>
              <a:t>METRIC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77240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Microsoft YaHei"/>
              </a:rPr>
              <a:t>外侧裂最大深度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80467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外侧裂沟底至脑表面最远垂直距离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12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562356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88075"/>
            <a:ext cx="5285232" cy="36830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" y="5559552"/>
            <a:ext cx="5257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icrosoft YaHei"/>
              </a:rPr>
              <a:t>代表病例 index=60，测量值 60.3 px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65392" y="1417320"/>
            <a:ext cx="15544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3407" y="1545336"/>
            <a:ext cx="129844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Microsoft YaHei"/>
              </a:rPr>
              <a:t>239/249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7" y="1856232"/>
            <a:ext cx="129844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可测 / 总数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141732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3336" y="1545336"/>
            <a:ext cx="116128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Microsoft YaHei"/>
              </a:rPr>
              <a:t>96.0%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3336" y="1856232"/>
            <a:ext cx="116128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可测比例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57232" y="1417320"/>
            <a:ext cx="15544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85248" y="1545336"/>
            <a:ext cx="129844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Microsoft YaHei"/>
              </a:rPr>
              <a:t>58.3 px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85248" y="1856232"/>
            <a:ext cx="129844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均值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565392" y="2404872"/>
          <a:ext cx="4846319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454"/>
                <a:gridCol w="2810865"/>
              </a:tblGrid>
              <a:tr h="33147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Microsoft YaHei"/>
                        </a:defRPr>
                      </a:pPr>
                      <a:r>
                        <a:t>中位数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60.3 px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Microsoft YaHei"/>
                        </a:defRPr>
                      </a:pPr>
                      <a:r>
                        <a:t>标准差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19.9 px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Microsoft YaHei"/>
                        </a:defRPr>
                      </a:pPr>
                      <a:r>
                        <a:t>最小值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7.2 px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Microsoft YaHei"/>
                        </a:defRPr>
                      </a:pPr>
                      <a:r>
                        <a:t>最大值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111.6 px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565392" y="3977639"/>
            <a:ext cx="484632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123" y="4096512"/>
            <a:ext cx="3156857" cy="1325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29400" y="5715000"/>
            <a:ext cx="470916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字段：fissure_depth_px；状态字段：fissure_depth_measurement_status。统计仅纳入状态为 ok 且数值非空的病例。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19088"/>
            <a:ext cx="1115568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510528"/>
            <a:ext cx="88696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Microsoft YaHei"/>
              </a:rPr>
              <a:t>数据：measurement_results.csv；定义来源：大脑外侧裂测量示意图.pptx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0891B2"/>
                </a:solidFill>
                <a:latin typeface="Microsoft YaHei"/>
              </a:rPr>
              <a:t>METRIC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77240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Microsoft YaHei"/>
              </a:rPr>
              <a:t>外侧裂开口宽度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80467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外侧裂两侧臂开口之间最大宽度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127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562356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88075"/>
            <a:ext cx="5285232" cy="36830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" y="5559552"/>
            <a:ext cx="5257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icrosoft YaHei"/>
              </a:rPr>
              <a:t>代表病例 index=131，测量值 87.0 px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65392" y="1417320"/>
            <a:ext cx="15544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3407" y="1545336"/>
            <a:ext cx="129844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891B2"/>
                </a:solidFill>
                <a:latin typeface="Microsoft YaHei"/>
              </a:rPr>
              <a:t>239/249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7" y="1856232"/>
            <a:ext cx="129844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可测 / 总数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141732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3336" y="1545336"/>
            <a:ext cx="116128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891B2"/>
                </a:solidFill>
                <a:latin typeface="Microsoft YaHei"/>
              </a:rPr>
              <a:t>96.0%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3336" y="1856232"/>
            <a:ext cx="116128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可测比例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57232" y="1417320"/>
            <a:ext cx="15544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85248" y="1545336"/>
            <a:ext cx="129844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891B2"/>
                </a:solidFill>
                <a:latin typeface="Microsoft YaHei"/>
              </a:rPr>
              <a:t>85.0 px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85248" y="1856232"/>
            <a:ext cx="129844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均值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565392" y="2404872"/>
          <a:ext cx="4846319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454"/>
                <a:gridCol w="2810865"/>
              </a:tblGrid>
              <a:tr h="33147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Microsoft YaHei"/>
                        </a:defRPr>
                      </a:pPr>
                      <a:r>
                        <a:t>中位数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87.0 px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Microsoft YaHei"/>
                        </a:defRPr>
                      </a:pPr>
                      <a:r>
                        <a:t>标准差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22.9 px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Microsoft YaHei"/>
                        </a:defRPr>
                      </a:pPr>
                      <a:r>
                        <a:t>最小值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10.8 px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Microsoft YaHei"/>
                        </a:defRPr>
                      </a:pPr>
                      <a:r>
                        <a:t>最大值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183.6 px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565392" y="3977639"/>
            <a:ext cx="484632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123" y="4096512"/>
            <a:ext cx="3156857" cy="1325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29400" y="5715000"/>
            <a:ext cx="470916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字段：fissure_opening_width_smooth_px；状态字段：fissure_opening_width_measurement_status。统计仅纳入状态为 ok 且数值非空的病例。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19088"/>
            <a:ext cx="1115568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510528"/>
            <a:ext cx="88696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Microsoft YaHei"/>
              </a:rPr>
              <a:t>数据：measurement_results.csv；定义来源：大脑外侧裂测量示意图.pptx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D97706"/>
                </a:solidFill>
                <a:latin typeface="Microsoft YaHei"/>
              </a:rPr>
              <a:t>METRIC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77240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Microsoft YaHei"/>
              </a:rPr>
              <a:t>裂隙弯曲度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80467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外侧裂走行弧度弯曲程度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127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562356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4" y="1600200"/>
            <a:ext cx="5145024" cy="38587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" y="5559552"/>
            <a:ext cx="5257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icrosoft YaHei"/>
              </a:rPr>
              <a:t>代表病例 index=140，测量值 1.18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65392" y="1417320"/>
            <a:ext cx="15544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3407" y="1545336"/>
            <a:ext cx="129844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D97706"/>
                </a:solidFill>
                <a:latin typeface="Microsoft YaHei"/>
              </a:rPr>
              <a:t>175/249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7" y="1856232"/>
            <a:ext cx="129844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可测 / 总数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141732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3336" y="1545336"/>
            <a:ext cx="116128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D97706"/>
                </a:solidFill>
                <a:latin typeface="Microsoft YaHei"/>
              </a:rPr>
              <a:t>70.3%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3336" y="1856232"/>
            <a:ext cx="116128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可测比例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57232" y="1417320"/>
            <a:ext cx="15544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85248" y="1545336"/>
            <a:ext cx="129844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D97706"/>
                </a:solidFill>
                <a:latin typeface="Microsoft YaHei"/>
              </a:rPr>
              <a:t>1.21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85248" y="1856232"/>
            <a:ext cx="129844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均值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565392" y="2404872"/>
          <a:ext cx="4846319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454"/>
                <a:gridCol w="2810865"/>
              </a:tblGrid>
              <a:tr h="33147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Microsoft YaHei"/>
                        </a:defRPr>
                      </a:pPr>
                      <a:r>
                        <a:t>中位数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1.18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Microsoft YaHei"/>
                        </a:defRPr>
                      </a:pPr>
                      <a:r>
                        <a:t>标准差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0.17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Microsoft YaHei"/>
                        </a:defRPr>
                      </a:pPr>
                      <a:r>
                        <a:t>最小值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1.02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Microsoft YaHei"/>
                        </a:defRPr>
                      </a:pPr>
                      <a:r>
                        <a:t>最大值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2.75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565392" y="3977639"/>
            <a:ext cx="484632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123" y="4096512"/>
            <a:ext cx="3156857" cy="1325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29400" y="5715000"/>
            <a:ext cx="470916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字段：fissure_curvature_ratio；状态字段：fissure_curvature_measurement_status。统计仅纳入状态为 ok 且数值非空的病例。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19088"/>
            <a:ext cx="1115568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510528"/>
            <a:ext cx="88696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Microsoft YaHei"/>
              </a:rPr>
              <a:t>数据：measurement_results.csv；定义来源：大脑外侧裂测量示意图.pptx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16A34A"/>
                </a:solidFill>
                <a:latin typeface="Microsoft YaHei"/>
              </a:rPr>
              <a:t>METRIC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77240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Microsoft YaHei"/>
              </a:rPr>
              <a:t>角度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80467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经第三脑室顶点作水平线，外侧裂上臂切线与之夹角（双侧）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127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562356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88075"/>
            <a:ext cx="5285232" cy="36830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" y="5559552"/>
            <a:ext cx="5257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icrosoft YaHei"/>
              </a:rPr>
              <a:t>代表病例 index=175，测量值 56.1°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65392" y="1417320"/>
            <a:ext cx="15544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3407" y="1545336"/>
            <a:ext cx="129844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6A34A"/>
                </a:solidFill>
                <a:latin typeface="Microsoft YaHei"/>
              </a:rPr>
              <a:t>186/249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7" y="1856232"/>
            <a:ext cx="129844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可测 / 总数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141732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3336" y="1545336"/>
            <a:ext cx="116128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6A34A"/>
                </a:solidFill>
                <a:latin typeface="Microsoft YaHei"/>
              </a:rPr>
              <a:t>74.7%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3336" y="1856232"/>
            <a:ext cx="116128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可测比例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57232" y="1417320"/>
            <a:ext cx="15544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85248" y="1545336"/>
            <a:ext cx="129844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6A34A"/>
                </a:solidFill>
                <a:latin typeface="Microsoft YaHei"/>
              </a:rPr>
              <a:t>54.2°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85248" y="1856232"/>
            <a:ext cx="129844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均值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565392" y="2404872"/>
          <a:ext cx="4846319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454"/>
                <a:gridCol w="2810865"/>
              </a:tblGrid>
              <a:tr h="33147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Microsoft YaHei"/>
                        </a:defRPr>
                      </a:pPr>
                      <a:r>
                        <a:t>中位数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56.0°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Microsoft YaHei"/>
                        </a:defRPr>
                      </a:pPr>
                      <a:r>
                        <a:t>标准差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13.4°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Microsoft YaHei"/>
                        </a:defRPr>
                      </a:pPr>
                      <a:r>
                        <a:t>最小值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0.1°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Microsoft YaHei"/>
                        </a:defRPr>
                      </a:pPr>
                      <a:r>
                        <a:t>最大值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81.3°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565392" y="3977639"/>
            <a:ext cx="484632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123" y="4096512"/>
            <a:ext cx="3156857" cy="1325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29400" y="5715000"/>
            <a:ext cx="470916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字段：fissure_mean_angle_deg；状态字段：fissure_angle_measurement_status。统计仅纳入状态为 ok 且数值非空的病例。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19088"/>
            <a:ext cx="1115568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510528"/>
            <a:ext cx="88696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Microsoft YaHei"/>
              </a:rPr>
              <a:t>数据：measurement_results.csv；定义来源：大脑外侧裂测量示意图.pptx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DC2626"/>
                </a:solidFill>
                <a:latin typeface="Microsoft YaHei"/>
              </a:rPr>
              <a:t>METRIC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77240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Microsoft YaHei"/>
              </a:rPr>
              <a:t>纵裂分支最大深度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80467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分支顶点距分支起点的距离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127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562356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88075"/>
            <a:ext cx="5285232" cy="36830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" y="5559552"/>
            <a:ext cx="5257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icrosoft YaHei"/>
              </a:rPr>
              <a:t>代表病例 index=63，测量值 36.2 px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65392" y="1417320"/>
            <a:ext cx="15544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3407" y="1545336"/>
            <a:ext cx="129844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DC2626"/>
                </a:solidFill>
                <a:latin typeface="Microsoft YaHei"/>
              </a:rPr>
              <a:t>248/249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7" y="1856232"/>
            <a:ext cx="129844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可测 / 总数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141732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3336" y="1545336"/>
            <a:ext cx="116128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DC2626"/>
                </a:solidFill>
                <a:latin typeface="Microsoft YaHei"/>
              </a:rPr>
              <a:t>99.6%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3336" y="1856232"/>
            <a:ext cx="116128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可测比例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57232" y="1417320"/>
            <a:ext cx="15544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85248" y="1545336"/>
            <a:ext cx="129844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DC2626"/>
                </a:solidFill>
                <a:latin typeface="Microsoft YaHei"/>
              </a:rPr>
              <a:t>36.8 px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85248" y="1856232"/>
            <a:ext cx="129844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均值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565392" y="2404872"/>
          <a:ext cx="4846319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454"/>
                <a:gridCol w="2810865"/>
              </a:tblGrid>
              <a:tr h="33147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Microsoft YaHei"/>
                        </a:defRPr>
                      </a:pPr>
                      <a:r>
                        <a:t>中位数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36.2 px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Microsoft YaHei"/>
                        </a:defRPr>
                      </a:pPr>
                      <a:r>
                        <a:t>标准差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10.4 px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Microsoft YaHei"/>
                        </a:defRPr>
                      </a:pPr>
                      <a:r>
                        <a:t>最小值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11.2 px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Microsoft YaHei"/>
                        </a:defRPr>
                      </a:pPr>
                      <a:r>
                        <a:t>最大值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77.5 px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565392" y="3977639"/>
            <a:ext cx="484632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123" y="4096512"/>
            <a:ext cx="3156857" cy="1325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29400" y="5715000"/>
            <a:ext cx="470916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字段：longitudinal_fissure_branch_depth_px；状态字段：longitudinal_fissure_branch_measurement_status。统计仅纳入状态为 ok 且数值非空的病例。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19088"/>
            <a:ext cx="1115568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510528"/>
            <a:ext cx="88696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Microsoft YaHei"/>
              </a:rPr>
              <a:t>数据：measurement_results.csv；定义来源：大脑外侧裂测量示意图.pptx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Microsoft YaHei"/>
              </a:rPr>
              <a:t>METRIC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77240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Microsoft YaHei"/>
              </a:rPr>
              <a:t>纵裂全长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80467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纵裂从头端至尾端整体走行长度（黄线）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12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562356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88075"/>
            <a:ext cx="5285232" cy="36830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" y="5559552"/>
            <a:ext cx="5257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icrosoft YaHei"/>
              </a:rPr>
              <a:t>代表病例 index=74，测量值 157.2 px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65392" y="1417320"/>
            <a:ext cx="15544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3407" y="1545336"/>
            <a:ext cx="129844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Microsoft YaHei"/>
              </a:rPr>
              <a:t>249/249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7" y="1856232"/>
            <a:ext cx="129844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可测 / 总数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141732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3336" y="1545336"/>
            <a:ext cx="116128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Microsoft YaHei"/>
              </a:rPr>
              <a:t>100.0%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3336" y="1856232"/>
            <a:ext cx="116128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可测比例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57232" y="1417320"/>
            <a:ext cx="15544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85248" y="1545336"/>
            <a:ext cx="129844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Microsoft YaHei"/>
              </a:rPr>
              <a:t>154.3 px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85248" y="1856232"/>
            <a:ext cx="129844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均值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565392" y="2404872"/>
          <a:ext cx="4846319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454"/>
                <a:gridCol w="2810865"/>
              </a:tblGrid>
              <a:tr h="33147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Microsoft YaHei"/>
                        </a:defRPr>
                      </a:pPr>
                      <a:r>
                        <a:t>中位数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157.2 px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Microsoft YaHei"/>
                        </a:defRPr>
                      </a:pPr>
                      <a:r>
                        <a:t>标准差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29.4 px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Microsoft YaHei"/>
                        </a:defRPr>
                      </a:pPr>
                      <a:r>
                        <a:t>最小值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81.8 px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Microsoft YaHei"/>
                        </a:defRPr>
                      </a:pPr>
                      <a:r>
                        <a:t>最大值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235.5 px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565392" y="3977639"/>
            <a:ext cx="484632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123" y="4096512"/>
            <a:ext cx="3156857" cy="1325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29400" y="5715000"/>
            <a:ext cx="470916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字段：longitudinal_fissure_full_length_px；状态字段：longitudinal_fissure_measurement_status。统计仅纳入状态为 ok 且数值非空的病例。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19088"/>
            <a:ext cx="1115568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510528"/>
            <a:ext cx="88696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Microsoft YaHei"/>
              </a:rPr>
              <a:t>数据：measurement_results.csv；定义来源：大脑外侧裂测量示意图.pptx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1">
                <a:solidFill>
                  <a:srgbClr val="0891B2"/>
                </a:solidFill>
                <a:latin typeface="Microsoft YaHei"/>
              </a:rPr>
              <a:t>METRIC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77240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Microsoft YaHei"/>
              </a:rPr>
              <a:t>纵裂面积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80467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AI 自动勾勒纵裂整体区域像素面积（蓝色）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127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562356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88075"/>
            <a:ext cx="5285232" cy="36830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" y="5559552"/>
            <a:ext cx="525780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icrosoft YaHei"/>
              </a:rPr>
              <a:t>代表病例 index=206，测量值 3,161 px²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65392" y="1417320"/>
            <a:ext cx="15544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3407" y="1545336"/>
            <a:ext cx="129844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891B2"/>
                </a:solidFill>
                <a:latin typeface="Microsoft YaHei"/>
              </a:rPr>
              <a:t>249/249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7" y="1856232"/>
            <a:ext cx="129844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可测 / 总数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141732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3336" y="1545336"/>
            <a:ext cx="116128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891B2"/>
                </a:solidFill>
                <a:latin typeface="Microsoft YaHei"/>
              </a:rPr>
              <a:t>100.0%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3336" y="1856232"/>
            <a:ext cx="116128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可测比例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57232" y="1417320"/>
            <a:ext cx="15544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85248" y="1545336"/>
            <a:ext cx="1298448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891B2"/>
                </a:solidFill>
                <a:latin typeface="Microsoft YaHei"/>
              </a:rPr>
              <a:t>3,246 px²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85248" y="1856232"/>
            <a:ext cx="129844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均值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565392" y="2404872"/>
          <a:ext cx="4846319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454"/>
                <a:gridCol w="2810865"/>
              </a:tblGrid>
              <a:tr h="33147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Microsoft YaHei"/>
                        </a:defRPr>
                      </a:pPr>
                      <a:r>
                        <a:t>中位数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3,161 px²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Microsoft YaHei"/>
                        </a:defRPr>
                      </a:pPr>
                      <a:r>
                        <a:t>标准差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1,148 px²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Microsoft YaHei"/>
                        </a:defRPr>
                      </a:pPr>
                      <a:r>
                        <a:t>最小值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1,074 px²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Microsoft YaHei"/>
                        </a:defRPr>
                      </a:pPr>
                      <a:r>
                        <a:t>最大值</a:t>
                      </a:r>
                    </a:p>
                  </a:txBody>
                  <a:tcPr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6,606 px²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565392" y="3977639"/>
            <a:ext cx="484632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123" y="4096512"/>
            <a:ext cx="3156857" cy="1325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29400" y="5715000"/>
            <a:ext cx="470916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字段：longitudinal_fissure_area_px；状态字段：longitudinal_fissure_measurement_status。统计仅纳入状态为 ok 且数值非空的病例。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19088"/>
            <a:ext cx="1115568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510528"/>
            <a:ext cx="88696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700" b="0">
                <a:solidFill>
                  <a:srgbClr val="64748B"/>
                </a:solidFill>
                <a:latin typeface="Microsoft YaHei"/>
              </a:rPr>
              <a:t>数据：measurement_results.csv；定义来源：大脑外侧裂测量示意图.pptx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