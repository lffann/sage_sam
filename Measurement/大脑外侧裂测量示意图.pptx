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7" r:id="rId5"/>
    <p:sldId id="258" r:id="rId6"/>
    <p:sldId id="259" r:id="rId7"/>
    <p:sldId id="263" r:id="rId8"/>
    <p:sldId id="261" r:id="rId9"/>
    <p:sldId id="264" r:id="rId10"/>
    <p:sldId id="26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大脑外侧裂测量示意图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外侧裂及大脑纵裂形态</a:t>
            </a:r>
            <a:endParaRPr lang="zh-CN" altLang="en-US"/>
          </a:p>
        </p:txBody>
      </p:sp>
      <p:pic>
        <p:nvPicPr>
          <p:cNvPr id="4" name="内容占位符 3" descr="A3_overlay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79395" y="1690370"/>
            <a:ext cx="6438265" cy="44869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160" y="0"/>
            <a:ext cx="10515600" cy="1325563"/>
          </a:xfrm>
        </p:spPr>
        <p:txBody>
          <a:bodyPr/>
          <a:p>
            <a:r>
              <a:rPr lang="zh-CN" altLang="en-US" sz="3600"/>
              <a:t>外侧裂最大深度：</a:t>
            </a:r>
            <a:r>
              <a:rPr lang="zh-CN" altLang="en-US" sz="2400"/>
              <a:t>外侧裂沟底至脑表面最远垂直距离</a:t>
            </a:r>
            <a:endParaRPr lang="zh-CN" altLang="en-US" sz="2400"/>
          </a:p>
        </p:txBody>
      </p:sp>
      <p:pic>
        <p:nvPicPr>
          <p:cNvPr id="4" name="内容占位符 3" descr="A3_overlay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86610" y="1207770"/>
            <a:ext cx="7936865" cy="553148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7148830" y="3825875"/>
            <a:ext cx="727075" cy="5461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arrow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4009390" y="3730625"/>
            <a:ext cx="699770" cy="1397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arrow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3600"/>
              <a:t>外侧裂开口宽度：</a:t>
            </a:r>
            <a:r>
              <a:rPr lang="zh-CN" altLang="en-US" sz="2400"/>
              <a:t>外侧裂两侧臂开口之间最大宽度</a:t>
            </a:r>
            <a:endParaRPr lang="zh-CN" altLang="en-US" sz="2400"/>
          </a:p>
        </p:txBody>
      </p:sp>
      <p:pic>
        <p:nvPicPr>
          <p:cNvPr id="4" name="内容占位符 3" descr="A3_overlay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87320" y="1626235"/>
            <a:ext cx="7300595" cy="5088255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 flipH="1">
            <a:off x="5172710" y="3687445"/>
            <a:ext cx="92075" cy="77406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arrow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7273290" y="3744595"/>
            <a:ext cx="28575" cy="759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arrow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/>
              <a:t>裂隙弯曲度：</a:t>
            </a:r>
            <a:r>
              <a:rPr lang="zh-CN" altLang="en-US" sz="2400"/>
              <a:t>外侧裂走行弧度弯曲程度</a:t>
            </a:r>
            <a:endParaRPr lang="zh-CN" altLang="en-US" sz="2400"/>
          </a:p>
        </p:txBody>
      </p:sp>
      <p:pic>
        <p:nvPicPr>
          <p:cNvPr id="7" name="图片 6" descr="A3_overla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9120" y="1405255"/>
            <a:ext cx="7070725" cy="4928235"/>
          </a:xfrm>
          <a:prstGeom prst="rect">
            <a:avLst/>
          </a:prstGeom>
        </p:spPr>
      </p:pic>
      <p:sp>
        <p:nvSpPr>
          <p:cNvPr id="8" name="任意多边形 7"/>
          <p:cNvSpPr/>
          <p:nvPr/>
        </p:nvSpPr>
        <p:spPr>
          <a:xfrm>
            <a:off x="4145915" y="3418205"/>
            <a:ext cx="236855" cy="740410"/>
          </a:xfrm>
          <a:custGeom>
            <a:avLst/>
            <a:gdLst>
              <a:gd name="connisteX0" fmla="*/ 243291 w 243291"/>
              <a:gd name="connsiteY0" fmla="*/ 0 h 699770"/>
              <a:gd name="connisteX1" fmla="*/ 175346 w 243291"/>
              <a:gd name="connsiteY1" fmla="*/ 40640 h 699770"/>
              <a:gd name="connisteX2" fmla="*/ 121371 w 243291"/>
              <a:gd name="connsiteY2" fmla="*/ 108585 h 699770"/>
              <a:gd name="connisteX3" fmla="*/ 53426 w 243291"/>
              <a:gd name="connsiteY3" fmla="*/ 176530 h 699770"/>
              <a:gd name="connisteX4" fmla="*/ 5801 w 243291"/>
              <a:gd name="connsiteY4" fmla="*/ 251460 h 699770"/>
              <a:gd name="connisteX5" fmla="*/ 5801 w 243291"/>
              <a:gd name="connsiteY5" fmla="*/ 326390 h 699770"/>
              <a:gd name="connisteX6" fmla="*/ 33106 w 243291"/>
              <a:gd name="connsiteY6" fmla="*/ 394335 h 699770"/>
              <a:gd name="connisteX7" fmla="*/ 39456 w 243291"/>
              <a:gd name="connsiteY7" fmla="*/ 482600 h 699770"/>
              <a:gd name="connisteX8" fmla="*/ 39456 w 243291"/>
              <a:gd name="connsiteY8" fmla="*/ 556895 h 699770"/>
              <a:gd name="connisteX9" fmla="*/ 39456 w 243291"/>
              <a:gd name="connsiteY9" fmla="*/ 624840 h 699770"/>
              <a:gd name="connisteX10" fmla="*/ 66761 w 243291"/>
              <a:gd name="connsiteY10" fmla="*/ 699770 h 69977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243292" h="699770">
                <a:moveTo>
                  <a:pt x="243292" y="0"/>
                </a:moveTo>
                <a:cubicBezTo>
                  <a:pt x="230592" y="6985"/>
                  <a:pt x="199477" y="19050"/>
                  <a:pt x="175347" y="40640"/>
                </a:cubicBezTo>
                <a:cubicBezTo>
                  <a:pt x="151217" y="62230"/>
                  <a:pt x="145502" y="81280"/>
                  <a:pt x="121372" y="108585"/>
                </a:cubicBezTo>
                <a:cubicBezTo>
                  <a:pt x="97242" y="135890"/>
                  <a:pt x="76287" y="147955"/>
                  <a:pt x="53427" y="176530"/>
                </a:cubicBezTo>
                <a:cubicBezTo>
                  <a:pt x="30567" y="205105"/>
                  <a:pt x="15327" y="221615"/>
                  <a:pt x="5802" y="251460"/>
                </a:cubicBezTo>
                <a:cubicBezTo>
                  <a:pt x="-3723" y="281305"/>
                  <a:pt x="87" y="297815"/>
                  <a:pt x="5802" y="326390"/>
                </a:cubicBezTo>
                <a:cubicBezTo>
                  <a:pt x="11517" y="354965"/>
                  <a:pt x="26122" y="363220"/>
                  <a:pt x="33107" y="394335"/>
                </a:cubicBezTo>
                <a:cubicBezTo>
                  <a:pt x="40092" y="425450"/>
                  <a:pt x="38187" y="450215"/>
                  <a:pt x="39457" y="482600"/>
                </a:cubicBezTo>
                <a:cubicBezTo>
                  <a:pt x="40727" y="514985"/>
                  <a:pt x="39457" y="528320"/>
                  <a:pt x="39457" y="556895"/>
                </a:cubicBezTo>
                <a:cubicBezTo>
                  <a:pt x="39457" y="585470"/>
                  <a:pt x="33742" y="596265"/>
                  <a:pt x="39457" y="624840"/>
                </a:cubicBezTo>
                <a:cubicBezTo>
                  <a:pt x="45172" y="653415"/>
                  <a:pt x="61047" y="686435"/>
                  <a:pt x="66762" y="699770"/>
                </a:cubicBezTo>
              </a:path>
            </a:pathLst>
          </a:cu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6271260" y="3486150"/>
            <a:ext cx="176530" cy="713740"/>
          </a:xfrm>
          <a:custGeom>
            <a:avLst/>
            <a:gdLst>
              <a:gd name="connisteX0" fmla="*/ 0 w 209797"/>
              <a:gd name="connsiteY0" fmla="*/ 0 h 706755"/>
              <a:gd name="connisteX1" fmla="*/ 47625 w 209797"/>
              <a:gd name="connsiteY1" fmla="*/ 81280 h 706755"/>
              <a:gd name="connisteX2" fmla="*/ 115570 w 209797"/>
              <a:gd name="connsiteY2" fmla="*/ 128905 h 706755"/>
              <a:gd name="connisteX3" fmla="*/ 128905 w 209797"/>
              <a:gd name="connsiteY3" fmla="*/ 196850 h 706755"/>
              <a:gd name="connisteX4" fmla="*/ 149860 w 209797"/>
              <a:gd name="connsiteY4" fmla="*/ 271780 h 706755"/>
              <a:gd name="connisteX5" fmla="*/ 196850 w 209797"/>
              <a:gd name="connsiteY5" fmla="*/ 353060 h 706755"/>
              <a:gd name="connisteX6" fmla="*/ 203835 w 209797"/>
              <a:gd name="connsiteY6" fmla="*/ 421005 h 706755"/>
              <a:gd name="connisteX7" fmla="*/ 135890 w 209797"/>
              <a:gd name="connsiteY7" fmla="*/ 495935 h 706755"/>
              <a:gd name="connisteX8" fmla="*/ 74930 w 209797"/>
              <a:gd name="connsiteY8" fmla="*/ 563880 h 706755"/>
              <a:gd name="connisteX9" fmla="*/ 67945 w 209797"/>
              <a:gd name="connsiteY9" fmla="*/ 631825 h 706755"/>
              <a:gd name="connisteX10" fmla="*/ 54610 w 209797"/>
              <a:gd name="connsiteY10" fmla="*/ 706755 h 7067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209798" h="706755">
                <a:moveTo>
                  <a:pt x="0" y="0"/>
                </a:moveTo>
                <a:cubicBezTo>
                  <a:pt x="8255" y="15240"/>
                  <a:pt x="24765" y="55245"/>
                  <a:pt x="47625" y="81280"/>
                </a:cubicBezTo>
                <a:cubicBezTo>
                  <a:pt x="70485" y="107315"/>
                  <a:pt x="99060" y="106045"/>
                  <a:pt x="115570" y="128905"/>
                </a:cubicBezTo>
                <a:cubicBezTo>
                  <a:pt x="132080" y="151765"/>
                  <a:pt x="121920" y="168275"/>
                  <a:pt x="128905" y="196850"/>
                </a:cubicBezTo>
                <a:cubicBezTo>
                  <a:pt x="135890" y="225425"/>
                  <a:pt x="136525" y="240665"/>
                  <a:pt x="149860" y="271780"/>
                </a:cubicBezTo>
                <a:cubicBezTo>
                  <a:pt x="163195" y="302895"/>
                  <a:pt x="186055" y="323215"/>
                  <a:pt x="196850" y="353060"/>
                </a:cubicBezTo>
                <a:cubicBezTo>
                  <a:pt x="207645" y="382905"/>
                  <a:pt x="215900" y="392430"/>
                  <a:pt x="203835" y="421005"/>
                </a:cubicBezTo>
                <a:cubicBezTo>
                  <a:pt x="191770" y="449580"/>
                  <a:pt x="161925" y="467360"/>
                  <a:pt x="135890" y="495935"/>
                </a:cubicBezTo>
                <a:cubicBezTo>
                  <a:pt x="109855" y="524510"/>
                  <a:pt x="88265" y="536575"/>
                  <a:pt x="74930" y="563880"/>
                </a:cubicBezTo>
                <a:cubicBezTo>
                  <a:pt x="61595" y="591185"/>
                  <a:pt x="71755" y="603250"/>
                  <a:pt x="67945" y="631825"/>
                </a:cubicBezTo>
                <a:cubicBezTo>
                  <a:pt x="64135" y="660400"/>
                  <a:pt x="57150" y="693420"/>
                  <a:pt x="54610" y="706755"/>
                </a:cubicBezTo>
              </a:path>
            </a:pathLst>
          </a:cu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3600"/>
              <a:t>角度：</a:t>
            </a:r>
            <a:r>
              <a:rPr lang="zh-CN" altLang="en-US" sz="2400"/>
              <a:t>经第三脑室顶点作水平线，外侧裂上臂切线与之夹角（双侧）</a:t>
            </a:r>
            <a:endParaRPr lang="zh-CN" altLang="en-US" sz="2400"/>
          </a:p>
        </p:txBody>
      </p:sp>
      <p:pic>
        <p:nvPicPr>
          <p:cNvPr id="4" name="内容占位符 3" descr="A3_overlay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48560" y="1459865"/>
            <a:ext cx="6769100" cy="471741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4065905" y="3556635"/>
            <a:ext cx="3721100" cy="109855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3948430" y="3176905"/>
            <a:ext cx="1008380" cy="9315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任意多边形 6"/>
          <p:cNvSpPr/>
          <p:nvPr/>
        </p:nvSpPr>
        <p:spPr>
          <a:xfrm>
            <a:off x="4279900" y="3583940"/>
            <a:ext cx="69215" cy="144780"/>
          </a:xfrm>
          <a:custGeom>
            <a:avLst/>
            <a:gdLst>
              <a:gd name="connisteX0" fmla="*/ 0 w 69215"/>
              <a:gd name="connsiteY0" fmla="*/ 0 h 144780"/>
              <a:gd name="connisteX1" fmla="*/ 20955 w 69215"/>
              <a:gd name="connsiteY1" fmla="*/ 76200 h 144780"/>
              <a:gd name="connisteX2" fmla="*/ 69215 w 69215"/>
              <a:gd name="connsiteY2" fmla="*/ 144780 h 1447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69215" h="144780">
                <a:moveTo>
                  <a:pt x="0" y="0"/>
                </a:moveTo>
                <a:cubicBezTo>
                  <a:pt x="3175" y="13970"/>
                  <a:pt x="6985" y="46990"/>
                  <a:pt x="20955" y="76200"/>
                </a:cubicBezTo>
                <a:cubicBezTo>
                  <a:pt x="34925" y="105410"/>
                  <a:pt x="59690" y="132715"/>
                  <a:pt x="69215" y="144780"/>
                </a:cubicBezTo>
              </a:path>
            </a:pathLst>
          </a:custGeom>
          <a:ln w="31750" cap="rnd">
            <a:solidFill>
              <a:srgbClr val="FFFF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6737985" y="3252470"/>
            <a:ext cx="544830" cy="946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任意多边形 8"/>
          <p:cNvSpPr/>
          <p:nvPr/>
        </p:nvSpPr>
        <p:spPr>
          <a:xfrm>
            <a:off x="7047865" y="3680460"/>
            <a:ext cx="76200" cy="109855"/>
          </a:xfrm>
          <a:custGeom>
            <a:avLst/>
            <a:gdLst>
              <a:gd name="connisteX0" fmla="*/ 34290 w 34290"/>
              <a:gd name="connsiteY0" fmla="*/ 0 h 83185"/>
              <a:gd name="connisteX1" fmla="*/ 0 w 34290"/>
              <a:gd name="connsiteY1" fmla="*/ 83185 h 8318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34290" h="83185">
                <a:moveTo>
                  <a:pt x="34290" y="0"/>
                </a:moveTo>
                <a:cubicBezTo>
                  <a:pt x="22860" y="27940"/>
                  <a:pt x="11430" y="55245"/>
                  <a:pt x="0" y="83185"/>
                </a:cubicBezTo>
              </a:path>
            </a:pathLst>
          </a:cu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纵裂分支最大深度：分支顶点距分支起点的距离</a:t>
            </a:r>
            <a:endParaRPr lang="zh-CN" altLang="en-US"/>
          </a:p>
        </p:txBody>
      </p:sp>
      <p:pic>
        <p:nvPicPr>
          <p:cNvPr id="4" name="内容占位符 3" descr="A3_overlay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28290" y="1724660"/>
            <a:ext cx="6389370" cy="445262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5747385" y="2949575"/>
            <a:ext cx="191770" cy="0"/>
          </a:xfrm>
          <a:prstGeom prst="line">
            <a:avLst/>
          </a:prstGeom>
          <a:ln w="31750" cap="rnd">
            <a:solidFill>
              <a:srgbClr val="FFFF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3600"/>
              <a:t>纵裂全长：</a:t>
            </a:r>
            <a:r>
              <a:rPr lang="zh-CN" altLang="en-US" sz="2400"/>
              <a:t>纵裂从头端至尾端整体走行长度（黄线）</a:t>
            </a:r>
            <a:endParaRPr lang="zh-CN" altLang="en-US" sz="2400"/>
          </a:p>
        </p:txBody>
      </p:sp>
      <p:pic>
        <p:nvPicPr>
          <p:cNvPr id="4" name="内容占位符 3" descr="A3_overlay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87015" y="1696085"/>
            <a:ext cx="6782435" cy="4726305"/>
          </a:xfrm>
          <a:prstGeom prst="rect">
            <a:avLst/>
          </a:prstGeom>
        </p:spPr>
      </p:pic>
      <p:sp>
        <p:nvSpPr>
          <p:cNvPr id="5" name="任意多边形 4"/>
          <p:cNvSpPr/>
          <p:nvPr/>
        </p:nvSpPr>
        <p:spPr>
          <a:xfrm>
            <a:off x="5826125" y="2468245"/>
            <a:ext cx="606425" cy="995680"/>
          </a:xfrm>
          <a:custGeom>
            <a:avLst/>
            <a:gdLst>
              <a:gd name="connisteX0" fmla="*/ 193706 w 606605"/>
              <a:gd name="connsiteY0" fmla="*/ 52928 h 995635"/>
              <a:gd name="connisteX1" fmla="*/ 248951 w 606605"/>
              <a:gd name="connsiteY1" fmla="*/ 121508 h 995635"/>
              <a:gd name="connisteX2" fmla="*/ 248951 w 606605"/>
              <a:gd name="connsiteY2" fmla="*/ 190723 h 995635"/>
              <a:gd name="connisteX3" fmla="*/ 248951 w 606605"/>
              <a:gd name="connsiteY3" fmla="*/ 266923 h 995635"/>
              <a:gd name="connisteX4" fmla="*/ 269271 w 606605"/>
              <a:gd name="connsiteY4" fmla="*/ 335503 h 995635"/>
              <a:gd name="connisteX5" fmla="*/ 269271 w 606605"/>
              <a:gd name="connsiteY5" fmla="*/ 404718 h 995635"/>
              <a:gd name="connisteX6" fmla="*/ 200691 w 606605"/>
              <a:gd name="connsiteY6" fmla="*/ 459963 h 995635"/>
              <a:gd name="connisteX7" fmla="*/ 131476 w 606605"/>
              <a:gd name="connsiteY7" fmla="*/ 473933 h 995635"/>
              <a:gd name="connisteX8" fmla="*/ 62261 w 606605"/>
              <a:gd name="connsiteY8" fmla="*/ 508223 h 995635"/>
              <a:gd name="connisteX9" fmla="*/ 31 w 606605"/>
              <a:gd name="connsiteY9" fmla="*/ 577438 h 995635"/>
              <a:gd name="connisteX10" fmla="*/ 69246 w 606605"/>
              <a:gd name="connsiteY10" fmla="*/ 618713 h 995635"/>
              <a:gd name="connisteX11" fmla="*/ 145446 w 606605"/>
              <a:gd name="connsiteY11" fmla="*/ 618713 h 995635"/>
              <a:gd name="connisteX12" fmla="*/ 221011 w 606605"/>
              <a:gd name="connsiteY12" fmla="*/ 618713 h 995635"/>
              <a:gd name="connisteX13" fmla="*/ 255936 w 606605"/>
              <a:gd name="connsiteY13" fmla="*/ 694913 h 995635"/>
              <a:gd name="connisteX14" fmla="*/ 255936 w 606605"/>
              <a:gd name="connsiteY14" fmla="*/ 764128 h 995635"/>
              <a:gd name="connisteX15" fmla="*/ 255936 w 606605"/>
              <a:gd name="connsiteY15" fmla="*/ 839693 h 995635"/>
              <a:gd name="connisteX16" fmla="*/ 227996 w 606605"/>
              <a:gd name="connsiteY16" fmla="*/ 908908 h 995635"/>
              <a:gd name="connisteX17" fmla="*/ 152431 w 606605"/>
              <a:gd name="connsiteY17" fmla="*/ 915893 h 995635"/>
              <a:gd name="connisteX18" fmla="*/ 172751 w 606605"/>
              <a:gd name="connsiteY18" fmla="*/ 984473 h 995635"/>
              <a:gd name="connisteX19" fmla="*/ 241966 w 606605"/>
              <a:gd name="connsiteY19" fmla="*/ 984473 h 995635"/>
              <a:gd name="connisteX20" fmla="*/ 318166 w 606605"/>
              <a:gd name="connsiteY20" fmla="*/ 984473 h 995635"/>
              <a:gd name="connisteX21" fmla="*/ 386746 w 606605"/>
              <a:gd name="connsiteY21" fmla="*/ 984473 h 995635"/>
              <a:gd name="connisteX22" fmla="*/ 455961 w 606605"/>
              <a:gd name="connsiteY22" fmla="*/ 991458 h 995635"/>
              <a:gd name="connisteX23" fmla="*/ 400716 w 606605"/>
              <a:gd name="connsiteY23" fmla="*/ 922878 h 995635"/>
              <a:gd name="connisteX24" fmla="*/ 386746 w 606605"/>
              <a:gd name="connsiteY24" fmla="*/ 853663 h 995635"/>
              <a:gd name="connisteX25" fmla="*/ 386746 w 606605"/>
              <a:gd name="connsiteY25" fmla="*/ 784448 h 995635"/>
              <a:gd name="connisteX26" fmla="*/ 379761 w 606605"/>
              <a:gd name="connsiteY26" fmla="*/ 715233 h 995635"/>
              <a:gd name="connisteX27" fmla="*/ 379761 w 606605"/>
              <a:gd name="connsiteY27" fmla="*/ 646653 h 995635"/>
              <a:gd name="connisteX28" fmla="*/ 448976 w 606605"/>
              <a:gd name="connsiteY28" fmla="*/ 604743 h 995635"/>
              <a:gd name="connisteX29" fmla="*/ 518191 w 606605"/>
              <a:gd name="connsiteY29" fmla="*/ 625698 h 995635"/>
              <a:gd name="connisteX30" fmla="*/ 587406 w 606605"/>
              <a:gd name="connsiteY30" fmla="*/ 625698 h 995635"/>
              <a:gd name="connisteX31" fmla="*/ 600741 w 606605"/>
              <a:gd name="connsiteY31" fmla="*/ 556483 h 995635"/>
              <a:gd name="connisteX32" fmla="*/ 525176 w 606605"/>
              <a:gd name="connsiteY32" fmla="*/ 536163 h 995635"/>
              <a:gd name="connisteX33" fmla="*/ 455961 w 606605"/>
              <a:gd name="connsiteY33" fmla="*/ 508223 h 995635"/>
              <a:gd name="connisteX34" fmla="*/ 386746 w 606605"/>
              <a:gd name="connsiteY34" fmla="*/ 480918 h 995635"/>
              <a:gd name="connisteX35" fmla="*/ 386746 w 606605"/>
              <a:gd name="connsiteY35" fmla="*/ 411703 h 995635"/>
              <a:gd name="connisteX36" fmla="*/ 393731 w 606605"/>
              <a:gd name="connsiteY36" fmla="*/ 335503 h 995635"/>
              <a:gd name="connisteX37" fmla="*/ 421671 w 606605"/>
              <a:gd name="connsiteY37" fmla="*/ 266923 h 995635"/>
              <a:gd name="connisteX38" fmla="*/ 393731 w 606605"/>
              <a:gd name="connsiteY38" fmla="*/ 183738 h 995635"/>
              <a:gd name="connisteX39" fmla="*/ 386746 w 606605"/>
              <a:gd name="connsiteY39" fmla="*/ 115158 h 995635"/>
              <a:gd name="connisteX40" fmla="*/ 421671 w 606605"/>
              <a:gd name="connsiteY40" fmla="*/ 45943 h 995635"/>
              <a:gd name="connisteX41" fmla="*/ 352456 w 606605"/>
              <a:gd name="connsiteY41" fmla="*/ 4668 h 995635"/>
              <a:gd name="connisteX42" fmla="*/ 283241 w 606605"/>
              <a:gd name="connsiteY42" fmla="*/ 4668 h 995635"/>
              <a:gd name="connisteX43" fmla="*/ 207676 w 606605"/>
              <a:gd name="connsiteY43" fmla="*/ 24988 h 995635"/>
              <a:gd name="connisteX44" fmla="*/ 193706 w 606605"/>
              <a:gd name="connsiteY44" fmla="*/ 52928 h 99563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</a:cxnLst>
            <a:rect l="l" t="t" r="r" b="b"/>
            <a:pathLst>
              <a:path w="606605" h="995636">
                <a:moveTo>
                  <a:pt x="193706" y="52929"/>
                </a:moveTo>
                <a:cubicBezTo>
                  <a:pt x="201961" y="71979"/>
                  <a:pt x="238156" y="94204"/>
                  <a:pt x="248951" y="121509"/>
                </a:cubicBezTo>
                <a:cubicBezTo>
                  <a:pt x="259746" y="148814"/>
                  <a:pt x="248951" y="161514"/>
                  <a:pt x="248951" y="190724"/>
                </a:cubicBezTo>
                <a:cubicBezTo>
                  <a:pt x="248951" y="219934"/>
                  <a:pt x="245141" y="237714"/>
                  <a:pt x="248951" y="266924"/>
                </a:cubicBezTo>
                <a:cubicBezTo>
                  <a:pt x="252761" y="296134"/>
                  <a:pt x="265461" y="308199"/>
                  <a:pt x="269271" y="335504"/>
                </a:cubicBezTo>
                <a:cubicBezTo>
                  <a:pt x="273081" y="362809"/>
                  <a:pt x="283241" y="379954"/>
                  <a:pt x="269271" y="404719"/>
                </a:cubicBezTo>
                <a:cubicBezTo>
                  <a:pt x="255301" y="429484"/>
                  <a:pt x="227996" y="445994"/>
                  <a:pt x="200691" y="459964"/>
                </a:cubicBezTo>
                <a:cubicBezTo>
                  <a:pt x="173386" y="473934"/>
                  <a:pt x="159416" y="464409"/>
                  <a:pt x="131476" y="473934"/>
                </a:cubicBezTo>
                <a:cubicBezTo>
                  <a:pt x="103536" y="483459"/>
                  <a:pt x="88296" y="487269"/>
                  <a:pt x="62261" y="508224"/>
                </a:cubicBezTo>
                <a:cubicBezTo>
                  <a:pt x="36226" y="529179"/>
                  <a:pt x="-1239" y="555214"/>
                  <a:pt x="31" y="577439"/>
                </a:cubicBezTo>
                <a:cubicBezTo>
                  <a:pt x="1301" y="599664"/>
                  <a:pt x="40036" y="610459"/>
                  <a:pt x="69246" y="618714"/>
                </a:cubicBezTo>
                <a:cubicBezTo>
                  <a:pt x="98456" y="626969"/>
                  <a:pt x="114966" y="618714"/>
                  <a:pt x="145446" y="618714"/>
                </a:cubicBezTo>
                <a:cubicBezTo>
                  <a:pt x="175926" y="618714"/>
                  <a:pt x="198786" y="603474"/>
                  <a:pt x="221011" y="618714"/>
                </a:cubicBezTo>
                <a:cubicBezTo>
                  <a:pt x="243236" y="633954"/>
                  <a:pt x="248951" y="665704"/>
                  <a:pt x="255936" y="694914"/>
                </a:cubicBezTo>
                <a:cubicBezTo>
                  <a:pt x="262921" y="724124"/>
                  <a:pt x="255936" y="734919"/>
                  <a:pt x="255936" y="764129"/>
                </a:cubicBezTo>
                <a:cubicBezTo>
                  <a:pt x="255936" y="793339"/>
                  <a:pt x="261651" y="810484"/>
                  <a:pt x="255936" y="839694"/>
                </a:cubicBezTo>
                <a:cubicBezTo>
                  <a:pt x="250221" y="868904"/>
                  <a:pt x="248951" y="893669"/>
                  <a:pt x="227996" y="908909"/>
                </a:cubicBezTo>
                <a:cubicBezTo>
                  <a:pt x="207041" y="924149"/>
                  <a:pt x="163226" y="900654"/>
                  <a:pt x="152431" y="915894"/>
                </a:cubicBezTo>
                <a:cubicBezTo>
                  <a:pt x="141636" y="931134"/>
                  <a:pt x="154971" y="970504"/>
                  <a:pt x="172751" y="984474"/>
                </a:cubicBezTo>
                <a:cubicBezTo>
                  <a:pt x="190531" y="998444"/>
                  <a:pt x="212756" y="984474"/>
                  <a:pt x="241966" y="984474"/>
                </a:cubicBezTo>
                <a:cubicBezTo>
                  <a:pt x="271176" y="984474"/>
                  <a:pt x="288956" y="984474"/>
                  <a:pt x="318166" y="984474"/>
                </a:cubicBezTo>
                <a:cubicBezTo>
                  <a:pt x="347376" y="984474"/>
                  <a:pt x="359441" y="983204"/>
                  <a:pt x="386746" y="984474"/>
                </a:cubicBezTo>
                <a:cubicBezTo>
                  <a:pt x="414051" y="985744"/>
                  <a:pt x="453421" y="1003524"/>
                  <a:pt x="455961" y="991459"/>
                </a:cubicBezTo>
                <a:cubicBezTo>
                  <a:pt x="458501" y="979394"/>
                  <a:pt x="414686" y="950184"/>
                  <a:pt x="400716" y="922879"/>
                </a:cubicBezTo>
                <a:cubicBezTo>
                  <a:pt x="386746" y="895574"/>
                  <a:pt x="389286" y="881604"/>
                  <a:pt x="386746" y="853664"/>
                </a:cubicBezTo>
                <a:cubicBezTo>
                  <a:pt x="384206" y="825724"/>
                  <a:pt x="388016" y="812389"/>
                  <a:pt x="386746" y="784449"/>
                </a:cubicBezTo>
                <a:cubicBezTo>
                  <a:pt x="385476" y="756509"/>
                  <a:pt x="381031" y="742539"/>
                  <a:pt x="379761" y="715234"/>
                </a:cubicBezTo>
                <a:cubicBezTo>
                  <a:pt x="378491" y="687929"/>
                  <a:pt x="365791" y="668879"/>
                  <a:pt x="379761" y="646654"/>
                </a:cubicBezTo>
                <a:cubicBezTo>
                  <a:pt x="393731" y="624429"/>
                  <a:pt x="421036" y="609189"/>
                  <a:pt x="448976" y="604744"/>
                </a:cubicBezTo>
                <a:cubicBezTo>
                  <a:pt x="476916" y="600299"/>
                  <a:pt x="490251" y="621254"/>
                  <a:pt x="518191" y="625699"/>
                </a:cubicBezTo>
                <a:cubicBezTo>
                  <a:pt x="546131" y="630144"/>
                  <a:pt x="570896" y="639669"/>
                  <a:pt x="587406" y="625699"/>
                </a:cubicBezTo>
                <a:cubicBezTo>
                  <a:pt x="603916" y="611729"/>
                  <a:pt x="613441" y="574264"/>
                  <a:pt x="600741" y="556484"/>
                </a:cubicBezTo>
                <a:cubicBezTo>
                  <a:pt x="588041" y="538704"/>
                  <a:pt x="554386" y="545689"/>
                  <a:pt x="525176" y="536164"/>
                </a:cubicBezTo>
                <a:cubicBezTo>
                  <a:pt x="495966" y="526639"/>
                  <a:pt x="483901" y="519019"/>
                  <a:pt x="455961" y="508224"/>
                </a:cubicBezTo>
                <a:cubicBezTo>
                  <a:pt x="428021" y="497429"/>
                  <a:pt x="400716" y="499969"/>
                  <a:pt x="386746" y="480919"/>
                </a:cubicBezTo>
                <a:cubicBezTo>
                  <a:pt x="372776" y="461869"/>
                  <a:pt x="385476" y="440914"/>
                  <a:pt x="386746" y="411704"/>
                </a:cubicBezTo>
                <a:cubicBezTo>
                  <a:pt x="388016" y="382494"/>
                  <a:pt x="386746" y="364714"/>
                  <a:pt x="393731" y="335504"/>
                </a:cubicBezTo>
                <a:cubicBezTo>
                  <a:pt x="400716" y="306294"/>
                  <a:pt x="421671" y="297404"/>
                  <a:pt x="421671" y="266924"/>
                </a:cubicBezTo>
                <a:cubicBezTo>
                  <a:pt x="421671" y="236444"/>
                  <a:pt x="400716" y="214219"/>
                  <a:pt x="393731" y="183739"/>
                </a:cubicBezTo>
                <a:cubicBezTo>
                  <a:pt x="386746" y="153259"/>
                  <a:pt x="381031" y="142464"/>
                  <a:pt x="386746" y="115159"/>
                </a:cubicBezTo>
                <a:cubicBezTo>
                  <a:pt x="392461" y="87854"/>
                  <a:pt x="428656" y="68169"/>
                  <a:pt x="421671" y="45944"/>
                </a:cubicBezTo>
                <a:cubicBezTo>
                  <a:pt x="414686" y="23719"/>
                  <a:pt x="380396" y="12924"/>
                  <a:pt x="352456" y="4669"/>
                </a:cubicBezTo>
                <a:cubicBezTo>
                  <a:pt x="324516" y="-3586"/>
                  <a:pt x="312451" y="859"/>
                  <a:pt x="283241" y="4669"/>
                </a:cubicBezTo>
                <a:cubicBezTo>
                  <a:pt x="254031" y="8479"/>
                  <a:pt x="225456" y="15464"/>
                  <a:pt x="207676" y="24989"/>
                </a:cubicBezTo>
                <a:cubicBezTo>
                  <a:pt x="189896" y="34514"/>
                  <a:pt x="185451" y="33879"/>
                  <a:pt x="193706" y="52929"/>
                </a:cubicBezTo>
                <a:close/>
              </a:path>
            </a:pathLst>
          </a:custGeom>
          <a:ln w="19050"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3600"/>
              <a:t>纵裂面积：</a:t>
            </a:r>
            <a:r>
              <a:rPr lang="en-US" altLang="zh-CN" sz="2400"/>
              <a:t>AI</a:t>
            </a:r>
            <a:r>
              <a:rPr lang="zh-CN" altLang="en-US" sz="2400"/>
              <a:t>自动勾勒纵裂整体区域像素面积（蓝色）</a:t>
            </a:r>
            <a:endParaRPr lang="zh-CN" altLang="en-US" sz="2400"/>
          </a:p>
        </p:txBody>
      </p:sp>
      <p:pic>
        <p:nvPicPr>
          <p:cNvPr id="4" name="内容占位符 3" descr="A3_overlay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87015" y="1696085"/>
            <a:ext cx="6782435" cy="4726305"/>
          </a:xfrm>
          <a:prstGeom prst="rect">
            <a:avLst/>
          </a:prstGeom>
        </p:spPr>
      </p:pic>
      <p:sp>
        <p:nvSpPr>
          <p:cNvPr id="5" name="任意多边形 4"/>
          <p:cNvSpPr/>
          <p:nvPr/>
        </p:nvSpPr>
        <p:spPr>
          <a:xfrm>
            <a:off x="5826125" y="2468245"/>
            <a:ext cx="606425" cy="995680"/>
          </a:xfrm>
          <a:custGeom>
            <a:avLst/>
            <a:gdLst>
              <a:gd name="connisteX0" fmla="*/ 193706 w 606605"/>
              <a:gd name="connsiteY0" fmla="*/ 52928 h 995635"/>
              <a:gd name="connisteX1" fmla="*/ 248951 w 606605"/>
              <a:gd name="connsiteY1" fmla="*/ 121508 h 995635"/>
              <a:gd name="connisteX2" fmla="*/ 248951 w 606605"/>
              <a:gd name="connsiteY2" fmla="*/ 190723 h 995635"/>
              <a:gd name="connisteX3" fmla="*/ 248951 w 606605"/>
              <a:gd name="connsiteY3" fmla="*/ 266923 h 995635"/>
              <a:gd name="connisteX4" fmla="*/ 269271 w 606605"/>
              <a:gd name="connsiteY4" fmla="*/ 335503 h 995635"/>
              <a:gd name="connisteX5" fmla="*/ 269271 w 606605"/>
              <a:gd name="connsiteY5" fmla="*/ 404718 h 995635"/>
              <a:gd name="connisteX6" fmla="*/ 200691 w 606605"/>
              <a:gd name="connsiteY6" fmla="*/ 459963 h 995635"/>
              <a:gd name="connisteX7" fmla="*/ 131476 w 606605"/>
              <a:gd name="connsiteY7" fmla="*/ 473933 h 995635"/>
              <a:gd name="connisteX8" fmla="*/ 62261 w 606605"/>
              <a:gd name="connsiteY8" fmla="*/ 508223 h 995635"/>
              <a:gd name="connisteX9" fmla="*/ 31 w 606605"/>
              <a:gd name="connsiteY9" fmla="*/ 577438 h 995635"/>
              <a:gd name="connisteX10" fmla="*/ 69246 w 606605"/>
              <a:gd name="connsiteY10" fmla="*/ 618713 h 995635"/>
              <a:gd name="connisteX11" fmla="*/ 145446 w 606605"/>
              <a:gd name="connsiteY11" fmla="*/ 618713 h 995635"/>
              <a:gd name="connisteX12" fmla="*/ 221011 w 606605"/>
              <a:gd name="connsiteY12" fmla="*/ 618713 h 995635"/>
              <a:gd name="connisteX13" fmla="*/ 255936 w 606605"/>
              <a:gd name="connsiteY13" fmla="*/ 694913 h 995635"/>
              <a:gd name="connisteX14" fmla="*/ 255936 w 606605"/>
              <a:gd name="connsiteY14" fmla="*/ 764128 h 995635"/>
              <a:gd name="connisteX15" fmla="*/ 255936 w 606605"/>
              <a:gd name="connsiteY15" fmla="*/ 839693 h 995635"/>
              <a:gd name="connisteX16" fmla="*/ 227996 w 606605"/>
              <a:gd name="connsiteY16" fmla="*/ 908908 h 995635"/>
              <a:gd name="connisteX17" fmla="*/ 152431 w 606605"/>
              <a:gd name="connsiteY17" fmla="*/ 915893 h 995635"/>
              <a:gd name="connisteX18" fmla="*/ 172751 w 606605"/>
              <a:gd name="connsiteY18" fmla="*/ 984473 h 995635"/>
              <a:gd name="connisteX19" fmla="*/ 241966 w 606605"/>
              <a:gd name="connsiteY19" fmla="*/ 984473 h 995635"/>
              <a:gd name="connisteX20" fmla="*/ 318166 w 606605"/>
              <a:gd name="connsiteY20" fmla="*/ 984473 h 995635"/>
              <a:gd name="connisteX21" fmla="*/ 386746 w 606605"/>
              <a:gd name="connsiteY21" fmla="*/ 984473 h 995635"/>
              <a:gd name="connisteX22" fmla="*/ 455961 w 606605"/>
              <a:gd name="connsiteY22" fmla="*/ 991458 h 995635"/>
              <a:gd name="connisteX23" fmla="*/ 400716 w 606605"/>
              <a:gd name="connsiteY23" fmla="*/ 922878 h 995635"/>
              <a:gd name="connisteX24" fmla="*/ 386746 w 606605"/>
              <a:gd name="connsiteY24" fmla="*/ 853663 h 995635"/>
              <a:gd name="connisteX25" fmla="*/ 386746 w 606605"/>
              <a:gd name="connsiteY25" fmla="*/ 784448 h 995635"/>
              <a:gd name="connisteX26" fmla="*/ 379761 w 606605"/>
              <a:gd name="connsiteY26" fmla="*/ 715233 h 995635"/>
              <a:gd name="connisteX27" fmla="*/ 379761 w 606605"/>
              <a:gd name="connsiteY27" fmla="*/ 646653 h 995635"/>
              <a:gd name="connisteX28" fmla="*/ 448976 w 606605"/>
              <a:gd name="connsiteY28" fmla="*/ 604743 h 995635"/>
              <a:gd name="connisteX29" fmla="*/ 518191 w 606605"/>
              <a:gd name="connsiteY29" fmla="*/ 625698 h 995635"/>
              <a:gd name="connisteX30" fmla="*/ 587406 w 606605"/>
              <a:gd name="connsiteY30" fmla="*/ 625698 h 995635"/>
              <a:gd name="connisteX31" fmla="*/ 600741 w 606605"/>
              <a:gd name="connsiteY31" fmla="*/ 556483 h 995635"/>
              <a:gd name="connisteX32" fmla="*/ 525176 w 606605"/>
              <a:gd name="connsiteY32" fmla="*/ 536163 h 995635"/>
              <a:gd name="connisteX33" fmla="*/ 455961 w 606605"/>
              <a:gd name="connsiteY33" fmla="*/ 508223 h 995635"/>
              <a:gd name="connisteX34" fmla="*/ 386746 w 606605"/>
              <a:gd name="connsiteY34" fmla="*/ 480918 h 995635"/>
              <a:gd name="connisteX35" fmla="*/ 386746 w 606605"/>
              <a:gd name="connsiteY35" fmla="*/ 411703 h 995635"/>
              <a:gd name="connisteX36" fmla="*/ 393731 w 606605"/>
              <a:gd name="connsiteY36" fmla="*/ 335503 h 995635"/>
              <a:gd name="connisteX37" fmla="*/ 421671 w 606605"/>
              <a:gd name="connsiteY37" fmla="*/ 266923 h 995635"/>
              <a:gd name="connisteX38" fmla="*/ 393731 w 606605"/>
              <a:gd name="connsiteY38" fmla="*/ 183738 h 995635"/>
              <a:gd name="connisteX39" fmla="*/ 386746 w 606605"/>
              <a:gd name="connsiteY39" fmla="*/ 115158 h 995635"/>
              <a:gd name="connisteX40" fmla="*/ 421671 w 606605"/>
              <a:gd name="connsiteY40" fmla="*/ 45943 h 995635"/>
              <a:gd name="connisteX41" fmla="*/ 352456 w 606605"/>
              <a:gd name="connsiteY41" fmla="*/ 4668 h 995635"/>
              <a:gd name="connisteX42" fmla="*/ 283241 w 606605"/>
              <a:gd name="connsiteY42" fmla="*/ 4668 h 995635"/>
              <a:gd name="connisteX43" fmla="*/ 207676 w 606605"/>
              <a:gd name="connsiteY43" fmla="*/ 24988 h 995635"/>
              <a:gd name="connisteX44" fmla="*/ 193706 w 606605"/>
              <a:gd name="connsiteY44" fmla="*/ 52928 h 99563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</a:cxnLst>
            <a:rect l="l" t="t" r="r" b="b"/>
            <a:pathLst>
              <a:path w="606605" h="995636">
                <a:moveTo>
                  <a:pt x="193706" y="52929"/>
                </a:moveTo>
                <a:cubicBezTo>
                  <a:pt x="201961" y="71979"/>
                  <a:pt x="238156" y="94204"/>
                  <a:pt x="248951" y="121509"/>
                </a:cubicBezTo>
                <a:cubicBezTo>
                  <a:pt x="259746" y="148814"/>
                  <a:pt x="248951" y="161514"/>
                  <a:pt x="248951" y="190724"/>
                </a:cubicBezTo>
                <a:cubicBezTo>
                  <a:pt x="248951" y="219934"/>
                  <a:pt x="245141" y="237714"/>
                  <a:pt x="248951" y="266924"/>
                </a:cubicBezTo>
                <a:cubicBezTo>
                  <a:pt x="252761" y="296134"/>
                  <a:pt x="265461" y="308199"/>
                  <a:pt x="269271" y="335504"/>
                </a:cubicBezTo>
                <a:cubicBezTo>
                  <a:pt x="273081" y="362809"/>
                  <a:pt x="283241" y="379954"/>
                  <a:pt x="269271" y="404719"/>
                </a:cubicBezTo>
                <a:cubicBezTo>
                  <a:pt x="255301" y="429484"/>
                  <a:pt x="227996" y="445994"/>
                  <a:pt x="200691" y="459964"/>
                </a:cubicBezTo>
                <a:cubicBezTo>
                  <a:pt x="173386" y="473934"/>
                  <a:pt x="159416" y="464409"/>
                  <a:pt x="131476" y="473934"/>
                </a:cubicBezTo>
                <a:cubicBezTo>
                  <a:pt x="103536" y="483459"/>
                  <a:pt x="88296" y="487269"/>
                  <a:pt x="62261" y="508224"/>
                </a:cubicBezTo>
                <a:cubicBezTo>
                  <a:pt x="36226" y="529179"/>
                  <a:pt x="-1239" y="555214"/>
                  <a:pt x="31" y="577439"/>
                </a:cubicBezTo>
                <a:cubicBezTo>
                  <a:pt x="1301" y="599664"/>
                  <a:pt x="40036" y="610459"/>
                  <a:pt x="69246" y="618714"/>
                </a:cubicBezTo>
                <a:cubicBezTo>
                  <a:pt x="98456" y="626969"/>
                  <a:pt x="114966" y="618714"/>
                  <a:pt x="145446" y="618714"/>
                </a:cubicBezTo>
                <a:cubicBezTo>
                  <a:pt x="175926" y="618714"/>
                  <a:pt x="198786" y="603474"/>
                  <a:pt x="221011" y="618714"/>
                </a:cubicBezTo>
                <a:cubicBezTo>
                  <a:pt x="243236" y="633954"/>
                  <a:pt x="248951" y="665704"/>
                  <a:pt x="255936" y="694914"/>
                </a:cubicBezTo>
                <a:cubicBezTo>
                  <a:pt x="262921" y="724124"/>
                  <a:pt x="255936" y="734919"/>
                  <a:pt x="255936" y="764129"/>
                </a:cubicBezTo>
                <a:cubicBezTo>
                  <a:pt x="255936" y="793339"/>
                  <a:pt x="261651" y="810484"/>
                  <a:pt x="255936" y="839694"/>
                </a:cubicBezTo>
                <a:cubicBezTo>
                  <a:pt x="250221" y="868904"/>
                  <a:pt x="248951" y="893669"/>
                  <a:pt x="227996" y="908909"/>
                </a:cubicBezTo>
                <a:cubicBezTo>
                  <a:pt x="207041" y="924149"/>
                  <a:pt x="163226" y="900654"/>
                  <a:pt x="152431" y="915894"/>
                </a:cubicBezTo>
                <a:cubicBezTo>
                  <a:pt x="141636" y="931134"/>
                  <a:pt x="154971" y="970504"/>
                  <a:pt x="172751" y="984474"/>
                </a:cubicBezTo>
                <a:cubicBezTo>
                  <a:pt x="190531" y="998444"/>
                  <a:pt x="212756" y="984474"/>
                  <a:pt x="241966" y="984474"/>
                </a:cubicBezTo>
                <a:cubicBezTo>
                  <a:pt x="271176" y="984474"/>
                  <a:pt x="288956" y="984474"/>
                  <a:pt x="318166" y="984474"/>
                </a:cubicBezTo>
                <a:cubicBezTo>
                  <a:pt x="347376" y="984474"/>
                  <a:pt x="359441" y="983204"/>
                  <a:pt x="386746" y="984474"/>
                </a:cubicBezTo>
                <a:cubicBezTo>
                  <a:pt x="414051" y="985744"/>
                  <a:pt x="453421" y="1003524"/>
                  <a:pt x="455961" y="991459"/>
                </a:cubicBezTo>
                <a:cubicBezTo>
                  <a:pt x="458501" y="979394"/>
                  <a:pt x="414686" y="950184"/>
                  <a:pt x="400716" y="922879"/>
                </a:cubicBezTo>
                <a:cubicBezTo>
                  <a:pt x="386746" y="895574"/>
                  <a:pt x="389286" y="881604"/>
                  <a:pt x="386746" y="853664"/>
                </a:cubicBezTo>
                <a:cubicBezTo>
                  <a:pt x="384206" y="825724"/>
                  <a:pt x="388016" y="812389"/>
                  <a:pt x="386746" y="784449"/>
                </a:cubicBezTo>
                <a:cubicBezTo>
                  <a:pt x="385476" y="756509"/>
                  <a:pt x="381031" y="742539"/>
                  <a:pt x="379761" y="715234"/>
                </a:cubicBezTo>
                <a:cubicBezTo>
                  <a:pt x="378491" y="687929"/>
                  <a:pt x="365791" y="668879"/>
                  <a:pt x="379761" y="646654"/>
                </a:cubicBezTo>
                <a:cubicBezTo>
                  <a:pt x="393731" y="624429"/>
                  <a:pt x="421036" y="609189"/>
                  <a:pt x="448976" y="604744"/>
                </a:cubicBezTo>
                <a:cubicBezTo>
                  <a:pt x="476916" y="600299"/>
                  <a:pt x="490251" y="621254"/>
                  <a:pt x="518191" y="625699"/>
                </a:cubicBezTo>
                <a:cubicBezTo>
                  <a:pt x="546131" y="630144"/>
                  <a:pt x="570896" y="639669"/>
                  <a:pt x="587406" y="625699"/>
                </a:cubicBezTo>
                <a:cubicBezTo>
                  <a:pt x="603916" y="611729"/>
                  <a:pt x="613441" y="574264"/>
                  <a:pt x="600741" y="556484"/>
                </a:cubicBezTo>
                <a:cubicBezTo>
                  <a:pt x="588041" y="538704"/>
                  <a:pt x="554386" y="545689"/>
                  <a:pt x="525176" y="536164"/>
                </a:cubicBezTo>
                <a:cubicBezTo>
                  <a:pt x="495966" y="526639"/>
                  <a:pt x="483901" y="519019"/>
                  <a:pt x="455961" y="508224"/>
                </a:cubicBezTo>
                <a:cubicBezTo>
                  <a:pt x="428021" y="497429"/>
                  <a:pt x="400716" y="499969"/>
                  <a:pt x="386746" y="480919"/>
                </a:cubicBezTo>
                <a:cubicBezTo>
                  <a:pt x="372776" y="461869"/>
                  <a:pt x="385476" y="440914"/>
                  <a:pt x="386746" y="411704"/>
                </a:cubicBezTo>
                <a:cubicBezTo>
                  <a:pt x="388016" y="382494"/>
                  <a:pt x="386746" y="364714"/>
                  <a:pt x="393731" y="335504"/>
                </a:cubicBezTo>
                <a:cubicBezTo>
                  <a:pt x="400716" y="306294"/>
                  <a:pt x="421671" y="297404"/>
                  <a:pt x="421671" y="266924"/>
                </a:cubicBezTo>
                <a:cubicBezTo>
                  <a:pt x="421671" y="236444"/>
                  <a:pt x="400716" y="214219"/>
                  <a:pt x="393731" y="183739"/>
                </a:cubicBezTo>
                <a:cubicBezTo>
                  <a:pt x="386746" y="153259"/>
                  <a:pt x="381031" y="142464"/>
                  <a:pt x="386746" y="115159"/>
                </a:cubicBezTo>
                <a:cubicBezTo>
                  <a:pt x="392461" y="87854"/>
                  <a:pt x="428656" y="68169"/>
                  <a:pt x="421671" y="45944"/>
                </a:cubicBezTo>
                <a:cubicBezTo>
                  <a:pt x="414686" y="23719"/>
                  <a:pt x="380396" y="12924"/>
                  <a:pt x="352456" y="4669"/>
                </a:cubicBezTo>
                <a:cubicBezTo>
                  <a:pt x="324516" y="-3586"/>
                  <a:pt x="312451" y="859"/>
                  <a:pt x="283241" y="4669"/>
                </a:cubicBezTo>
                <a:cubicBezTo>
                  <a:pt x="254031" y="8479"/>
                  <a:pt x="225456" y="15464"/>
                  <a:pt x="207676" y="24989"/>
                </a:cubicBezTo>
                <a:cubicBezTo>
                  <a:pt x="189896" y="34514"/>
                  <a:pt x="185451" y="33879"/>
                  <a:pt x="193706" y="52929"/>
                </a:cubicBezTo>
                <a:close/>
              </a:path>
            </a:pathLst>
          </a:custGeom>
          <a:ln w="19050"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WPS 演示</Application>
  <PresentationFormat>宽屏</PresentationFormat>
  <Paragraphs>18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大脑外侧裂测量示意图</vt:lpstr>
      <vt:lpstr>外侧裂及大脑纵裂形态</vt:lpstr>
      <vt:lpstr>外侧裂最大深度：外侧裂沟底至脑表面最远垂直距离</vt:lpstr>
      <vt:lpstr>外侧裂开口宽度：外侧裂两侧臂开口之间最大宽度</vt:lpstr>
      <vt:lpstr>裂隙弯曲度：外侧裂走行弧度弯曲程度</vt:lpstr>
      <vt:lpstr>角度：经第三脑室顶点作水平线，外侧裂上臂切线与之夹角（两侧）</vt:lpstr>
      <vt:lpstr>纵裂分支最大宽度：分支顶点距分支起点的距离</vt:lpstr>
      <vt:lpstr>纵裂全长：纵裂从头端至尾端整体走行长度（黄线）</vt:lpstr>
      <vt:lpstr>纵裂面积：AI自动勾勒纵裂整体区域像素面积（蓝色）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zhangxiuxiu</dc:creator>
  <cp:lastModifiedBy>小鱼</cp:lastModifiedBy>
  <cp:revision>10</cp:revision>
  <dcterms:created xsi:type="dcterms:W3CDTF">2023-08-09T12:44:00Z</dcterms:created>
  <dcterms:modified xsi:type="dcterms:W3CDTF">2026-05-28T12:41:27Z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88C9B0C05153424CB231636844129AFB_12</vt:lpwstr>
  </property>
</Properties>
</file>